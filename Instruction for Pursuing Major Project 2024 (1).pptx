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4" r:id="rId19"/>
    <p:sldId id="263" r:id="rId20"/>
    <p:sldId id="265" r:id="rId21"/>
    <p:sldId id="264" r:id="rId22"/>
    <p:sldId id="26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-126" y="-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2924D1-7CDA-4E8A-AE3F-E5B315AC7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6D13A30-D142-42F3-A9EF-E7DF31DAD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452612D-F694-4EA9-A5F5-52D22E15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532473-EA42-4DB4-A2CD-36511CF6E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B91BE8-6B7B-4E96-B91B-D42FD287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22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AF0100-AD6F-4833-9B79-B166F033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FAFC7E-F7D7-4A36-AF7C-42B3F6B64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68F73F-ADCC-4C5F-B948-C82CE3D5A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7A7C567-DB2F-47C6-8A4B-90859D4C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7C9A148-AACA-4E0F-BDBC-E4ED5F89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0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1A0968-3BA5-45E6-AF7A-5890C445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45A504-F26E-4653-8DD2-A91858FA7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CD347A9-9712-432E-B844-EDB53684F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972824-31A1-48F0-A7BA-B9F49114E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A44E19-EC75-42ED-A91A-07357AED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37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BBEAE0-4122-48D6-B2EF-741528DBB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ADEDDB-82FF-406B-BE7F-42C26A4EE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74E752D-6EAB-48E9-A1CD-E114641D6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67A1B42-B998-4B60-9150-16C0599A4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6FE103-2956-4C80-81AD-02538ED7E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EBD4F8-4E50-4117-89D8-17BD02A5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1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F1758A-03C8-4059-8AE1-7C2CF405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815E07D-C9B7-4C93-8C00-0E8E892E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9AA0574-0824-4EC2-9110-5A18A49E9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E7E48BC-1BE2-4AA1-8B16-172D61F4C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5BA8F05-CADA-45EE-9481-23A5D490B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1CA940E-F5DD-4EAE-935C-357D1B26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AD2CF9B-F386-4750-970C-29D4DB08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90AF3CA-3251-47AA-82C1-1FB2EABD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84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C6333E-5941-4595-8343-22433DB2B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419F536-995B-48D7-9A29-F3F43DF58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A420F63-3E26-4D8A-AE35-912FC5FB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39BFFF2-1BF0-49C4-A9B0-22E6D56F5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108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D11F56-75FD-42E4-A4D1-60AD8EC32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852B66-960E-4269-A28D-EE06616E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33C08DD-29AB-4849-A268-E44A0D102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97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A2AD35-D889-4BA2-96A7-C0BCC078E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F713BD-6185-4959-928D-677857C4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E76818D-67E4-4036-860F-65B3D1D34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06E2C3-6A55-47C9-9849-4AB9B85D1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9DB7AE1-DA60-4F48-B805-1A2294EE7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33EBF72-8069-469C-84E1-6EA1D261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938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BB1E28-2173-4334-985B-B1E49A4F7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9FA6723-3190-47B5-921B-41FB5E9AE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5A97D76-E782-48C0-9810-A7778D2D9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676DB14-3FD3-4CF9-B4C7-A9397B9F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0E4180B-F407-4E91-B273-6D5B523D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8EDE7C4-B090-4698-A0F1-306FE844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73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49016F-1F16-4B2F-9E2D-658F8A3E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54E2284-4F2A-4983-88B8-B9316A20D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E7FD88C-1CAE-4F94-BA87-885E5A2B5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09F9EF5-EC37-42D0-82EA-25B8E7D2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39A2772-BCB6-4C14-9577-3B7CE1CB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730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7DA9814-137B-4EDC-874E-0164A94F6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6DA0465-C9F6-4B41-928A-0BA02A50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CA3710-62D3-4EE9-9EF6-10F2F296A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694650-5082-4A0F-B355-F7384043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83F8D1-132F-4B3D-81DB-C3F60A8F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23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27D0A73-2553-4400-9E54-A7EDDC807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A28C97F-DE7F-48C6-A5E6-6D4B209B1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8AEA31-0A01-47D0-AC8A-71D3272D4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A1AC-7148-4BAD-B832-43E1E89C8666}" type="datetimeFigureOut">
              <a:rPr lang="en-IN" smtClean="0"/>
              <a:t>30-10-2023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649543B-D303-44A1-B164-C3C5DF41A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C462E55-97C1-4B18-AFBF-3A73BF879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565CD-9659-484E-92D3-2BAB3F7BA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05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99BD35-D0C4-4AB5-B6B9-454C27A95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996" y="3272889"/>
            <a:ext cx="11168008" cy="2387600"/>
          </a:xfrm>
        </p:spPr>
        <p:txBody>
          <a:bodyPr>
            <a:noAutofit/>
          </a:bodyPr>
          <a:lstStyle/>
          <a:p>
            <a: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</a:t>
            </a:r>
            <a:r>
              <a:rPr lang="en-IN" sz="2800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AND ENGINEERING</a:t>
            </a:r>
            <a:b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SIKKIM MANIPAL INSTITUTE OF TECHNOLOGY</a:t>
            </a:r>
            <a: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INSTRUCTIONS</a:t>
            </a:r>
            <a:b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b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PURSING B.TECH(CSE) MAJOR PROJECT</a:t>
            </a:r>
            <a: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28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7200" dirty="0">
              <a:latin typeface="Bookman Old Style" panose="0205060405050502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228C440-873F-4822-88CB-4D456D1A6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807" y="4832608"/>
            <a:ext cx="9144000" cy="1655762"/>
          </a:xfrm>
        </p:spPr>
        <p:txBody>
          <a:bodyPr/>
          <a:lstStyle/>
          <a:p>
            <a:r>
              <a:rPr lang="en-IN" b="1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2024 </a:t>
            </a:r>
            <a:r>
              <a:rPr lang="en-IN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BATCH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xmlns="" id="{6D4F414F-993D-4582-AD7E-45FB317E8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072" y="42643"/>
            <a:ext cx="6780943" cy="1633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84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5EA211-3115-4955-92C6-396D3D7E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PURSING B.TECH(CSE) MAJOR PROJECT</a:t>
            </a:r>
            <a:endParaRPr lang="en-IN" sz="6600" b="1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002BFE-7460-481E-B824-7EF7927A2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lphaUcPeriod"/>
            </a:pPr>
            <a:r>
              <a:rPr lang="en-IN" b="1" dirty="0">
                <a:solidFill>
                  <a:srgbClr val="FF0000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</a:rPr>
              <a:t>Self-Arranged Major Project(External)</a:t>
            </a:r>
          </a:p>
          <a:p>
            <a:pPr marL="342900" indent="-342900">
              <a:buAutoNum type="alphaUcPeriod"/>
            </a:pPr>
            <a:endParaRPr lang="en-IN" b="1" dirty="0">
              <a:effectLst/>
              <a:latin typeface="Bookman Old Style" panose="02050604050505020204" pitchFamily="18" charset="0"/>
              <a:ea typeface="Calibri" panose="020F0502020204030204" pitchFamily="34" charset="0"/>
            </a:endParaRPr>
          </a:p>
          <a:p>
            <a:pPr marL="342900" indent="-342900">
              <a:buAutoNum type="alphaUcPeriod"/>
            </a:pPr>
            <a:r>
              <a:rPr lang="en-IN" b="1" dirty="0">
                <a:solidFill>
                  <a:srgbClr val="0070C0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</a:rPr>
              <a:t>Major Project arranged through T&amp;P Cell, SMIT </a:t>
            </a:r>
          </a:p>
          <a:p>
            <a:pPr marL="342900" indent="-342900">
              <a:buAutoNum type="alphaUcPeriod"/>
            </a:pPr>
            <a:endParaRPr lang="en-IN" b="1" dirty="0">
              <a:latin typeface="Bookman Old Style" panose="02050604050505020204" pitchFamily="18" charset="0"/>
              <a:ea typeface="Calibri" panose="020F0502020204030204" pitchFamily="34" charset="0"/>
            </a:endParaRPr>
          </a:p>
          <a:p>
            <a:pPr marL="342900" indent="-342900">
              <a:buAutoNum type="alphaUcPeriod"/>
            </a:pPr>
            <a:r>
              <a:rPr lang="en-IN" b="1" dirty="0">
                <a:solidFill>
                  <a:srgbClr val="00B050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Major Project in CSE, SMIT (In-house)</a:t>
            </a:r>
            <a:endParaRPr lang="en-IN" dirty="0">
              <a:solidFill>
                <a:srgbClr val="00B050"/>
              </a:solidFill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40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4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39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5EA211-3115-4955-92C6-396D3D7E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Self-Arranged</a:t>
            </a:r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Major Project(External)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002BFE-7460-481E-B824-7EF7927A2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0291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willing to pursue major project which has been self-arranged from a company/institute/organization or any reputed university should follow the following procedures: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Candidate must seek prior permission from CSE Dept., SMIT by filling </a:t>
            </a:r>
            <a:r>
              <a:rPr lang="en-IN" sz="2000" dirty="0" smtClean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required information at: </a:t>
            </a:r>
            <a:r>
              <a:rPr lang="en-IN" sz="2000" dirty="0" smtClean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dirty="0" smtClean="0">
                <a:ln>
                  <a:solidFill>
                    <a:srgbClr val="00B0F0"/>
                  </a:solidFill>
                </a:ln>
              </a:rPr>
              <a:t>projectwork.dalabsmit.in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Last </a:t>
            </a:r>
            <a:r>
              <a:rPr lang="en-US" sz="2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date of sending the request form is on </a:t>
            </a:r>
            <a:r>
              <a:rPr lang="en-US" sz="20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31</a:t>
            </a:r>
            <a:r>
              <a:rPr lang="en-US" sz="2000" b="1" baseline="30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st</a:t>
            </a:r>
            <a:r>
              <a:rPr lang="en-US" sz="2000" b="1" dirty="0" smtClean="0">
                <a:highlight>
                  <a:srgbClr val="FFFF00"/>
                </a:highlight>
                <a:latin typeface="Bookman Old Style" panose="02050604050505020204" pitchFamily="18" charset="0"/>
                <a:cs typeface="Times New Roman" panose="02020603050405020304" pitchFamily="18" charset="0"/>
              </a:rPr>
              <a:t>Dec’2023</a:t>
            </a:r>
            <a:r>
              <a:rPr lang="en-US" sz="2000" b="1" dirty="0" smtClean="0">
                <a:highlight>
                  <a:srgbClr val="FFFF00"/>
                </a:highlight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highlight>
                <a:srgbClr val="FFFF00"/>
              </a:highlight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All the candidates must join their respective major project location on or before </a:t>
            </a:r>
            <a:r>
              <a:rPr lang="en-US" sz="2000" b="1" dirty="0" smtClean="0">
                <a:highlight>
                  <a:srgbClr val="FFFF00"/>
                </a:highlight>
                <a:latin typeface="Bookman Old Style" panose="02050604050505020204" pitchFamily="18" charset="0"/>
                <a:cs typeface="Times New Roman" panose="02020603050405020304" pitchFamily="18" charset="0"/>
              </a:rPr>
              <a:t>15</a:t>
            </a:r>
            <a:r>
              <a:rPr lang="en-US" sz="2000" b="1" baseline="30000" dirty="0" smtClean="0">
                <a:highlight>
                  <a:srgbClr val="FFFF00"/>
                </a:highlight>
                <a:latin typeface="Bookman Old Style" panose="02050604050505020204" pitchFamily="18" charset="0"/>
                <a:cs typeface="Times New Roman" panose="02020603050405020304" pitchFamily="18" charset="0"/>
              </a:rPr>
              <a:t>th</a:t>
            </a:r>
            <a:r>
              <a:rPr lang="en-US" sz="2000" b="1" dirty="0" smtClean="0">
                <a:highlight>
                  <a:srgbClr val="FFFF00"/>
                </a:highlight>
                <a:latin typeface="Bookman Old Style" panose="02050604050505020204" pitchFamily="18" charset="0"/>
                <a:cs typeface="Times New Roman" panose="02020603050405020304" pitchFamily="18" charset="0"/>
              </a:rPr>
              <a:t> Jan’2024</a:t>
            </a:r>
            <a:r>
              <a:rPr lang="en-US" sz="20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joining the respective location, all the candidates must report their joining details by filling up the </a:t>
            </a:r>
            <a:r>
              <a:rPr lang="en-IN" sz="20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 </a:t>
            </a:r>
            <a:r>
              <a:rPr lang="en-IN" sz="20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at:  </a:t>
            </a:r>
            <a:r>
              <a:rPr lang="en-US" dirty="0">
                <a:ln>
                  <a:solidFill>
                    <a:srgbClr val="00B0F0"/>
                  </a:solidFill>
                </a:ln>
              </a:rPr>
              <a:t>projectwork.dalabsmit.in</a:t>
            </a:r>
          </a:p>
          <a:p>
            <a:pPr marL="457200" indent="-457200" algn="just">
              <a:buFont typeface="+mj-lt"/>
              <a:buAutoNum type="arabicPeriod"/>
            </a:pPr>
            <a:endParaRPr lang="en-IN" sz="2000" dirty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IN" sz="24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lphaUcPeriod"/>
            </a:pPr>
            <a:endParaRPr lang="en-IN" sz="3600" b="1" dirty="0">
              <a:effectLst/>
              <a:latin typeface="Bookman Old Style" panose="020506040505050202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4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69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5EA211-3115-4955-92C6-396D3D7E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Self-Arranged Major Project(External) 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002BFE-7460-481E-B824-7EF7927A2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2400" dirty="0" smtClean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Internal reviewer will be allocated for each group on received of joining report.</a:t>
            </a:r>
          </a:p>
          <a:p>
            <a:pPr marL="0" indent="0" algn="just">
              <a:buNone/>
            </a:pP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dirty="0" smtClean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Duration of the project is </a:t>
            </a:r>
            <a:r>
              <a:rPr lang="en-US" sz="2400" b="1" dirty="0">
                <a:effectLst/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16weeks</a:t>
            </a:r>
            <a:r>
              <a:rPr lang="en-US" sz="24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clear calendar week in </a:t>
            </a:r>
            <a:r>
              <a:rPr lang="en-US" sz="2400" b="1" i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organization</a:t>
            </a:r>
            <a:r>
              <a:rPr lang="en-US" sz="24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n-US" sz="24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the project work should be related to Computer Science which should include development/testing/design.</a:t>
            </a:r>
          </a:p>
          <a:p>
            <a:pPr marL="0" indent="0" algn="just">
              <a:buNone/>
            </a:pP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24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maximum of </a:t>
            </a: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</a:t>
            </a: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a group is permitted.</a:t>
            </a:r>
          </a:p>
          <a:p>
            <a:pPr marL="0" indent="0" algn="just">
              <a:buNone/>
            </a:pP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en-US" sz="24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.The </a:t>
            </a: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must not </a:t>
            </a:r>
            <a:r>
              <a:rPr lang="en-US" sz="24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 </a:t>
            </a: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or indirect supervision of relatives/family.</a:t>
            </a:r>
          </a:p>
          <a:p>
            <a:pPr marL="0" indent="0" algn="just">
              <a:buNone/>
            </a:pPr>
            <a:endParaRPr lang="en-IN" sz="24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lphaUcPeriod"/>
            </a:pPr>
            <a:endParaRPr lang="en-IN" sz="3600" b="1" dirty="0">
              <a:effectLst/>
              <a:latin typeface="Bookman Old Style" panose="020506040505050202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4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83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5EA211-3115-4955-92C6-396D3D7E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Major Project arranged </a:t>
            </a:r>
            <a:r>
              <a:rPr lang="en-US" sz="3200" b="1" u="sng" dirty="0">
                <a:solidFill>
                  <a:srgbClr val="FF0000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through T&amp;P Cell</a:t>
            </a:r>
            <a:r>
              <a:rPr lang="en-US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SMIT </a:t>
            </a:r>
            <a:endParaRPr lang="en-IN" sz="3200" b="1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002BFE-7460-481E-B824-7EF7927A2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840"/>
            <a:ext cx="10515600" cy="47901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Date of joining will be intimated by the respective company.</a:t>
            </a:r>
          </a:p>
          <a:p>
            <a:pPr marL="0" indent="0" algn="just">
              <a:buNone/>
            </a:pPr>
            <a:endParaRPr lang="en-US" sz="24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Number of members in a group will be as per the company.</a:t>
            </a:r>
          </a:p>
          <a:p>
            <a:pPr marL="0" indent="0" algn="just">
              <a:buNone/>
            </a:pPr>
            <a:endParaRPr lang="en-US" sz="24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The project must not be in direct or indirect supervision of relatives/family</a:t>
            </a:r>
            <a:r>
              <a:rPr lang="en-US" sz="2400" dirty="0" smtClean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On </a:t>
            </a:r>
            <a:r>
              <a:rPr lang="en-IN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joining the respective location, all the candidates must report their joining details by filling up the form </a:t>
            </a:r>
            <a:r>
              <a:rPr lang="en-IN" sz="24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at: </a:t>
            </a:r>
            <a:r>
              <a:rPr lang="en-US" sz="2400" dirty="0">
                <a:ln>
                  <a:solidFill>
                    <a:srgbClr val="00B0F0"/>
                  </a:solidFill>
                </a:ln>
              </a:rPr>
              <a:t>projectwork.dalabsmit.in</a:t>
            </a:r>
          </a:p>
          <a:p>
            <a:pPr marL="0" indent="0" algn="just">
              <a:buNone/>
            </a:pPr>
            <a:endParaRPr lang="en-US" sz="2400" dirty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lphaUcPeriod"/>
            </a:pPr>
            <a:endParaRPr lang="en-IN" sz="3600" b="1" dirty="0">
              <a:effectLst/>
              <a:latin typeface="Bookman Old Style" panose="020506040505050202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4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45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5EA211-3115-4955-92C6-396D3D7E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Major Project in CSE, SMIT (</a:t>
            </a:r>
            <a:r>
              <a:rPr lang="en-US" sz="3200" b="1" u="sng" dirty="0">
                <a:solidFill>
                  <a:srgbClr val="FF0000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In-house</a:t>
            </a:r>
            <a:r>
              <a:rPr lang="en-US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3200" b="1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002BFE-7460-481E-B824-7EF7927A2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2000" dirty="0">
                <a:latin typeface="Bookman Old Style" panose="02050604050505020204" pitchFamily="18" charset="0"/>
                <a:ea typeface="Calibri" panose="020F0502020204030204" pitchFamily="34" charset="0"/>
              </a:rPr>
              <a:t>Candidate should give at least 3-4 broad areas of interest and fill up the </a:t>
            </a:r>
            <a:r>
              <a:rPr lang="en-IN" sz="2000" b="1" dirty="0" smtClean="0"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</a:rPr>
              <a:t>IN_HOUSE_REGISTRATION_2024</a:t>
            </a:r>
            <a:r>
              <a:rPr lang="en-IN" sz="2000" b="1" dirty="0" smtClean="0">
                <a:solidFill>
                  <a:srgbClr val="FF0000"/>
                </a:solidFill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</a:rPr>
              <a:t>** by </a:t>
            </a:r>
            <a:r>
              <a:rPr lang="en-IN" sz="2000" b="1" i="1" dirty="0" smtClean="0"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IN" sz="2000" b="1" i="1" baseline="30000" dirty="0" smtClean="0"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IN" sz="2000" b="1" i="1" dirty="0" smtClean="0"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b="1" i="1" dirty="0"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Jan </a:t>
            </a:r>
            <a:r>
              <a:rPr lang="en-IN" sz="2000" b="1" i="1" dirty="0" smtClean="0"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</a:t>
            </a:r>
            <a:r>
              <a:rPr lang="en-IN" sz="2000" b="1" i="1" dirty="0" smtClean="0"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 tentatively</a:t>
            </a:r>
            <a:r>
              <a:rPr lang="en-IN" sz="2000" b="1" i="1" dirty="0" smtClean="0"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endParaRPr lang="en-IN" sz="2000" dirty="0" smtClean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2000" dirty="0" smtClean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</a:t>
            </a:r>
            <a:r>
              <a:rPr lang="en-IN" sz="20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willing to pursue major project from CSE,SMIT ,the starting date is from</a:t>
            </a:r>
            <a:r>
              <a:rPr lang="en-IN" sz="2000" b="1" i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b="1" i="1" dirty="0" smtClean="0"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IN" sz="2000" b="1" i="1" baseline="30000" dirty="0" smtClean="0">
                <a:effectLst/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IN" sz="2000" b="1" i="1" dirty="0" smtClean="0">
                <a:effectLst/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b="1" i="1" dirty="0">
                <a:effectLst/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Jan </a:t>
            </a:r>
            <a:r>
              <a:rPr lang="en-IN" sz="2000" b="1" i="1" dirty="0" smtClean="0">
                <a:effectLst/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 (</a:t>
            </a:r>
            <a:r>
              <a:rPr lang="en-IN" sz="2000" b="1" i="1" dirty="0" smtClean="0">
                <a:effectLst/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tentatively</a:t>
            </a:r>
            <a:r>
              <a:rPr lang="en-IN" sz="2000" b="1" i="1" dirty="0">
                <a:effectLst/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2000" dirty="0">
                <a:effectLst/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0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the project is an </a:t>
            </a:r>
            <a:r>
              <a:rPr lang="en-IN" sz="2000" b="1" dirty="0">
                <a:effectLst/>
                <a:highlight>
                  <a:srgbClr val="FFFF00"/>
                </a:highlight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</a:t>
            </a:r>
            <a:r>
              <a:rPr lang="en-IN" sz="2000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project, no groupwise project is offered by the department.</a:t>
            </a:r>
          </a:p>
          <a:p>
            <a:pPr marL="0" indent="0" algn="just">
              <a:buNone/>
            </a:pPr>
            <a:endParaRPr lang="en-IN" sz="20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lphaUcPeriod"/>
            </a:pPr>
            <a:endParaRPr lang="en-IN" sz="2000" b="1" dirty="0">
              <a:effectLst/>
              <a:latin typeface="Bookman Old Style" panose="020506040505050202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15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5EA211-3115-4955-92C6-396D3D7E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Major Project in CSE, SMIT (In-house) contd..</a:t>
            </a:r>
            <a:endParaRPr lang="en-IN" sz="3200" b="1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002BFE-7460-481E-B824-7EF7927A2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buNone/>
            </a:pPr>
            <a:r>
              <a:rPr lang="en-IN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Based on the feasibility or availability a project guide will be allocated.</a:t>
            </a: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Candidate </a:t>
            </a:r>
            <a:r>
              <a:rPr lang="en-US" sz="2400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will be encouraged to choose problems which have publication and patent potential. </a:t>
            </a:r>
            <a:endParaRPr lang="en-US" sz="2400" dirty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sz="2400" b="1" i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Separate instructions will be circulated 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IN" sz="24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lphaUcPeriod"/>
            </a:pPr>
            <a:endParaRPr lang="en-IN" sz="2400" b="1" dirty="0">
              <a:effectLst/>
              <a:latin typeface="Bookman Old Style" panose="020506040505050202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40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1" t="9188" r="1282"/>
          <a:stretch/>
        </p:blipFill>
        <p:spPr bwMode="auto">
          <a:xfrm>
            <a:off x="1891071" y="1469159"/>
            <a:ext cx="8409857" cy="58023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9600" y="249382"/>
            <a:ext cx="9919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How to apply for NOC to Join one Self Arranged organization for Major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262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t="7761"/>
          <a:stretch/>
        </p:blipFill>
        <p:spPr bwMode="auto">
          <a:xfrm>
            <a:off x="2479964" y="277091"/>
            <a:ext cx="7758545" cy="48490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0222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t="8365"/>
          <a:stretch/>
        </p:blipFill>
        <p:spPr bwMode="auto">
          <a:xfrm>
            <a:off x="346364" y="539751"/>
            <a:ext cx="11152909" cy="58610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16068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t="8656"/>
          <a:stretch/>
        </p:blipFill>
        <p:spPr bwMode="auto">
          <a:xfrm>
            <a:off x="1986274" y="646423"/>
            <a:ext cx="8006091" cy="54848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37309" y="277091"/>
            <a:ext cx="10390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Request for NOC has been sent to CSE </a:t>
            </a:r>
            <a:r>
              <a:rPr lang="en-IN" dirty="0" err="1" smtClean="0"/>
              <a:t>dept,SMIT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350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For sending Joining Report</a:t>
            </a:r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240" y="1341120"/>
            <a:ext cx="10454639" cy="531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36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018" y="715696"/>
            <a:ext cx="11069781" cy="61769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5018" y="346364"/>
            <a:ext cx="1055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Details of your Organization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545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If another students is working with you in the group(need to present together)</a:t>
            </a:r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280" y="1597024"/>
            <a:ext cx="11140440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03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Last step of sending Joining report</a:t>
            </a:r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120" y="1341120"/>
            <a:ext cx="11155680" cy="533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228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9A961C-D96A-44AE-B78E-0062434E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ookman Old Style" panose="02050604050505020204" pitchFamily="18" charset="0"/>
              </a:rPr>
              <a:t>Major Project Progress Evaluation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949E1205-DA30-474F-8C5F-6B3B1DFC8F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854729"/>
              </p:ext>
            </p:extLst>
          </p:nvPr>
        </p:nvGraphicFramePr>
        <p:xfrm>
          <a:off x="2468880" y="1690688"/>
          <a:ext cx="6766559" cy="46034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2634">
                  <a:extLst>
                    <a:ext uri="{9D8B030D-6E8A-4147-A177-3AD203B41FA5}">
                      <a16:colId xmlns:a16="http://schemas.microsoft.com/office/drawing/2014/main" xmlns="" val="2433867484"/>
                    </a:ext>
                  </a:extLst>
                </a:gridCol>
                <a:gridCol w="5623925">
                  <a:extLst>
                    <a:ext uri="{9D8B030D-6E8A-4147-A177-3AD203B41FA5}">
                      <a16:colId xmlns:a16="http://schemas.microsoft.com/office/drawing/2014/main" xmlns="" val="717341899"/>
                    </a:ext>
                  </a:extLst>
                </a:gridCol>
              </a:tblGrid>
              <a:tr h="937423">
                <a:tc>
                  <a:txBody>
                    <a:bodyPr/>
                    <a:lstStyle/>
                    <a:p>
                      <a:r>
                        <a:rPr lang="en-IN" sz="2400" b="1" dirty="0" err="1">
                          <a:latin typeface="Bookman Old Style" panose="02050604050505020204" pitchFamily="18" charset="0"/>
                        </a:rPr>
                        <a:t>Sl</a:t>
                      </a:r>
                      <a:r>
                        <a:rPr lang="en-IN" sz="2400" b="1" dirty="0">
                          <a:latin typeface="Bookman Old Style" panose="02050604050505020204" pitchFamily="18" charset="0"/>
                        </a:rPr>
                        <a:t>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Bookman Old Style" panose="02050604050505020204" pitchFamily="18" charset="0"/>
                        </a:rPr>
                        <a:t>Type of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36100673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Synopsis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53309804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Guide Initiated 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79913113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Progress Presentation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88613534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4.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Guide Initiated 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21301836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Progress Presentation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55896185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Internal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1278779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7.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External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11291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20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4BE402-7129-4062-A7F1-2D952F7E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254288"/>
            <a:ext cx="10515600" cy="74323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TO NOTE: </a:t>
            </a:r>
            <a:b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6BC312-B9A3-4602-AB62-3670FA163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0" y="744970"/>
            <a:ext cx="11568545" cy="4351338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Bookman Old Style" panose="02050604050505020204" pitchFamily="18" charset="0"/>
              </a:rPr>
              <a:t>All the seminar will be evaluated based on the PPT </a:t>
            </a:r>
            <a:r>
              <a:rPr lang="en-IN" sz="2400" dirty="0" smtClean="0">
                <a:latin typeface="Bookman Old Style" panose="02050604050505020204" pitchFamily="18" charset="0"/>
              </a:rPr>
              <a:t>presentation, report and Viva.</a:t>
            </a:r>
          </a:p>
          <a:p>
            <a:pPr algn="just"/>
            <a:endParaRPr lang="en-IN" sz="2400" dirty="0" smtClean="0">
              <a:latin typeface="Bookman Old Style" panose="02050604050505020204" pitchFamily="18" charset="0"/>
            </a:endParaRPr>
          </a:p>
          <a:p>
            <a:pPr algn="just"/>
            <a:r>
              <a:rPr lang="en-US" sz="2400" dirty="0" smtClean="0">
                <a:latin typeface="Bookman Old Style" panose="02050604050505020204" pitchFamily="18" charset="0"/>
              </a:rPr>
              <a:t>Project Demonstration in the form of Working Model / Live Software demonstration may be required to be showcased.</a:t>
            </a:r>
          </a:p>
          <a:p>
            <a:pPr algn="just"/>
            <a:endParaRPr lang="en-US" sz="2400" dirty="0" smtClean="0">
              <a:latin typeface="Bookman Old Style" panose="02050604050505020204" pitchFamily="18" charset="0"/>
            </a:endParaRPr>
          </a:p>
          <a:p>
            <a:pPr algn="just"/>
            <a:r>
              <a:rPr lang="en-US" sz="2400" dirty="0" smtClean="0">
                <a:latin typeface="Bookman Old Style" panose="02050604050505020204" pitchFamily="18" charset="0"/>
              </a:rPr>
              <a:t>In-house projects will mandatorily be demonstrated.</a:t>
            </a:r>
            <a:endParaRPr lang="en-IN" sz="2400" dirty="0" smtClean="0"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Bookman Old Style" panose="02050604050505020204" pitchFamily="18" charset="0"/>
            </a:endParaRPr>
          </a:p>
          <a:p>
            <a:pPr algn="just"/>
            <a:r>
              <a:rPr lang="en-IN" sz="2400" dirty="0">
                <a:latin typeface="Bookman Old Style" panose="02050604050505020204" pitchFamily="18" charset="0"/>
              </a:rPr>
              <a:t>One copy of the report(soft copy) duly verified  by respective supervisor should be submitted to the major project  coordinator for future assessment.</a:t>
            </a:r>
          </a:p>
          <a:p>
            <a:pPr algn="just"/>
            <a:endParaRPr lang="en-IN" sz="2400" dirty="0" smtClean="0">
              <a:latin typeface="Bookman Old Style" panose="02050604050505020204" pitchFamily="18" charset="0"/>
            </a:endParaRPr>
          </a:p>
          <a:p>
            <a:pPr algn="just"/>
            <a:r>
              <a:rPr lang="en-IN" sz="2400" dirty="0" smtClean="0">
                <a:latin typeface="Bookman Old Style" panose="02050604050505020204" pitchFamily="18" charset="0"/>
              </a:rPr>
              <a:t>In </a:t>
            </a:r>
            <a:r>
              <a:rPr lang="en-IN" sz="2400" dirty="0">
                <a:latin typeface="Bookman Old Style" panose="02050604050505020204" pitchFamily="18" charset="0"/>
              </a:rPr>
              <a:t>case of absent in the seminar, shall not be considered further without any proper approval from supervisor and HOD, CSE.</a:t>
            </a:r>
          </a:p>
        </p:txBody>
      </p:sp>
    </p:spTree>
    <p:extLst>
      <p:ext uri="{BB962C8B-B14F-4D97-AF65-F5344CB8AC3E}">
        <p14:creationId xmlns:p14="http://schemas.microsoft.com/office/powerpoint/2010/main" val="356775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4BE402-7129-4062-A7F1-2D952F7E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TO NOTE </a:t>
            </a:r>
            <a:r>
              <a:rPr lang="en-IN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contd</a:t>
            </a:r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: </a:t>
            </a:r>
            <a:b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6BC312-B9A3-4602-AB62-3670FA163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  <a:latin typeface="Bookman Old Style" panose="02050604050505020204" pitchFamily="18" charset="0"/>
              </a:rPr>
              <a:t>External Candidate must submit the following details:</a:t>
            </a:r>
          </a:p>
          <a:p>
            <a:pPr marL="342900" indent="-342900" algn="just">
              <a:buAutoNum type="arabicPeriod"/>
            </a:pPr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  <a:latin typeface="Bookman Old Style" panose="02050604050505020204" pitchFamily="18" charset="0"/>
              </a:rPr>
              <a:t>Project Completion Certificate </a:t>
            </a:r>
            <a:r>
              <a:rPr lang="en-IN" dirty="0">
                <a:solidFill>
                  <a:schemeClr val="tx1"/>
                </a:solidFill>
                <a:latin typeface="Bookman Old Style" panose="02050604050505020204" pitchFamily="18" charset="0"/>
              </a:rPr>
              <a:t>on completion of 16 weeks project work.</a:t>
            </a:r>
          </a:p>
          <a:p>
            <a:pPr marL="342900" indent="-342900" algn="just">
              <a:buAutoNum type="arabicPeriod"/>
            </a:pPr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  <a:latin typeface="Bookman Old Style" panose="02050604050505020204" pitchFamily="18" charset="0"/>
              </a:rPr>
              <a:t>Performance Marks</a:t>
            </a:r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Bookman Old Style" panose="02050604050505020204" pitchFamily="18" charset="0"/>
              </a:rPr>
              <a:t>to be mailed by your External guide to your Internal reviewer over an email using their organization domain.</a:t>
            </a:r>
          </a:p>
          <a:p>
            <a:pPr algn="just"/>
            <a:r>
              <a:rPr lang="en-IN" i="1" dirty="0">
                <a:solidFill>
                  <a:schemeClr val="tx1"/>
                </a:solidFill>
                <a:latin typeface="Bookman Old Style" panose="02050604050505020204" pitchFamily="18" charset="0"/>
              </a:rPr>
              <a:t>Failing to submit anyone of the above two shall not be allowed to give their internal presentation.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27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F884A7-A064-4B3F-8136-447DE2F1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96" y="0"/>
            <a:ext cx="10515600" cy="893852"/>
          </a:xfrm>
        </p:spPr>
        <p:txBody>
          <a:bodyPr/>
          <a:lstStyle/>
          <a:p>
            <a:r>
              <a:rPr lang="en-IN" b="1" dirty="0">
                <a:latin typeface="Bookman Old Style" panose="02050604050505020204" pitchFamily="18" charset="0"/>
              </a:rPr>
              <a:t>Contact Details: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9D7B12CB-80D6-4B85-981D-7A18E9D98E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3130475"/>
              </p:ext>
            </p:extLst>
          </p:nvPr>
        </p:nvGraphicFramePr>
        <p:xfrm>
          <a:off x="1395570" y="1644175"/>
          <a:ext cx="9833225" cy="1280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5976">
                  <a:extLst>
                    <a:ext uri="{9D8B030D-6E8A-4147-A177-3AD203B41FA5}">
                      <a16:colId xmlns:a16="http://schemas.microsoft.com/office/drawing/2014/main" xmlns="" val="3978795420"/>
                    </a:ext>
                  </a:extLst>
                </a:gridCol>
                <a:gridCol w="2324079">
                  <a:extLst>
                    <a:ext uri="{9D8B030D-6E8A-4147-A177-3AD203B41FA5}">
                      <a16:colId xmlns:a16="http://schemas.microsoft.com/office/drawing/2014/main" xmlns="" val="2314399924"/>
                    </a:ext>
                  </a:extLst>
                </a:gridCol>
                <a:gridCol w="2387266">
                  <a:extLst>
                    <a:ext uri="{9D8B030D-6E8A-4147-A177-3AD203B41FA5}">
                      <a16:colId xmlns:a16="http://schemas.microsoft.com/office/drawing/2014/main" xmlns="" val="4286203271"/>
                    </a:ext>
                  </a:extLst>
                </a:gridCol>
                <a:gridCol w="4445904">
                  <a:extLst>
                    <a:ext uri="{9D8B030D-6E8A-4147-A177-3AD203B41FA5}">
                      <a16:colId xmlns:a16="http://schemas.microsoft.com/office/drawing/2014/main" xmlns="" val="1469142987"/>
                    </a:ext>
                  </a:extLst>
                </a:gridCol>
              </a:tblGrid>
              <a:tr h="574069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Bookman Old Style" panose="02050604050505020204" pitchFamily="18" charset="0"/>
                        </a:rPr>
                        <a:t>Sl</a:t>
                      </a:r>
                      <a:r>
                        <a:rPr lang="en-IN" dirty="0">
                          <a:latin typeface="Bookman Old Style" panose="02050604050505020204" pitchFamily="18" charset="0"/>
                        </a:rPr>
                        <a:t>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Contact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Email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60757648"/>
                  </a:ext>
                </a:extLst>
              </a:tr>
              <a:tr h="574069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>
                          <a:latin typeface="Bookman Old Style" panose="02050604050505020204" pitchFamily="18" charset="0"/>
                        </a:rPr>
                        <a:t>Santanu</a:t>
                      </a:r>
                      <a:r>
                        <a:rPr lang="en-IN" dirty="0" smtClean="0">
                          <a:latin typeface="Bookman Old Style" panose="02050604050505020204" pitchFamily="18" charset="0"/>
                        </a:rPr>
                        <a:t> Kumar Mishra</a:t>
                      </a:r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Bookman Old Style" panose="02050604050505020204" pitchFamily="18" charset="0"/>
                        </a:rPr>
                        <a:t>8927257899</a:t>
                      </a:r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Bookman Old Style" panose="02050604050505020204" pitchFamily="18" charset="0"/>
                        </a:rPr>
                        <a:t>santanu.m@smit.smu.edu.in</a:t>
                      </a:r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330070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278E62E-67D4-4B6A-8083-2C556C38C4DC}"/>
              </a:ext>
            </a:extLst>
          </p:cNvPr>
          <p:cNvSpPr/>
          <p:nvPr/>
        </p:nvSpPr>
        <p:spPr>
          <a:xfrm>
            <a:off x="226029" y="1038000"/>
            <a:ext cx="8270699" cy="606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Bookman Old Style" panose="02050604050505020204" pitchFamily="18" charset="0"/>
              </a:rPr>
              <a:t>Major Project(B.Tech, CSE) </a:t>
            </a:r>
            <a:r>
              <a:rPr lang="en-IN" b="1" dirty="0" smtClean="0">
                <a:latin typeface="Bookman Old Style" panose="02050604050505020204" pitchFamily="18" charset="0"/>
              </a:rPr>
              <a:t>Co-ordinator </a:t>
            </a:r>
            <a:r>
              <a:rPr lang="en-IN" b="1" dirty="0">
                <a:latin typeface="Bookman Old Style" panose="02050604050505020204" pitchFamily="18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88300CB-66E9-4B64-A4D1-662F6C322FE0}"/>
              </a:ext>
            </a:extLst>
          </p:cNvPr>
          <p:cNvSpPr/>
          <p:nvPr/>
        </p:nvSpPr>
        <p:spPr>
          <a:xfrm>
            <a:off x="306512" y="2858324"/>
            <a:ext cx="8270699" cy="606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Bookman Old Style" panose="02050604050505020204" pitchFamily="18" charset="0"/>
              </a:rPr>
              <a:t>Major Project(B.Tech, CSE) members: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xmlns="" id="{6C7BE2AF-FB45-4CF6-98AC-B958A224B7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4923710"/>
              </p:ext>
            </p:extLst>
          </p:nvPr>
        </p:nvGraphicFramePr>
        <p:xfrm>
          <a:off x="1395569" y="3464499"/>
          <a:ext cx="9833225" cy="236228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5976">
                  <a:extLst>
                    <a:ext uri="{9D8B030D-6E8A-4147-A177-3AD203B41FA5}">
                      <a16:colId xmlns:a16="http://schemas.microsoft.com/office/drawing/2014/main" xmlns="" val="3978795420"/>
                    </a:ext>
                  </a:extLst>
                </a:gridCol>
                <a:gridCol w="2324079">
                  <a:extLst>
                    <a:ext uri="{9D8B030D-6E8A-4147-A177-3AD203B41FA5}">
                      <a16:colId xmlns:a16="http://schemas.microsoft.com/office/drawing/2014/main" xmlns="" val="2314399924"/>
                    </a:ext>
                  </a:extLst>
                </a:gridCol>
                <a:gridCol w="2387266">
                  <a:extLst>
                    <a:ext uri="{9D8B030D-6E8A-4147-A177-3AD203B41FA5}">
                      <a16:colId xmlns:a16="http://schemas.microsoft.com/office/drawing/2014/main" xmlns="" val="4286203271"/>
                    </a:ext>
                  </a:extLst>
                </a:gridCol>
                <a:gridCol w="4445904">
                  <a:extLst>
                    <a:ext uri="{9D8B030D-6E8A-4147-A177-3AD203B41FA5}">
                      <a16:colId xmlns:a16="http://schemas.microsoft.com/office/drawing/2014/main" xmlns="" val="1469142987"/>
                    </a:ext>
                  </a:extLst>
                </a:gridCol>
              </a:tblGrid>
              <a:tr h="574069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Bookman Old Style" panose="02050604050505020204" pitchFamily="18" charset="0"/>
                        </a:rPr>
                        <a:t>Sl</a:t>
                      </a:r>
                      <a:r>
                        <a:rPr lang="en-IN" dirty="0">
                          <a:latin typeface="Bookman Old Style" panose="02050604050505020204" pitchFamily="18" charset="0"/>
                        </a:rPr>
                        <a:t>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Contact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Email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60757648"/>
                  </a:ext>
                </a:extLst>
              </a:tr>
              <a:tr h="574069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>
                          <a:latin typeface="Bookman Old Style" panose="02050604050505020204" pitchFamily="18" charset="0"/>
                        </a:rPr>
                        <a:t>Nilesh</a:t>
                      </a:r>
                      <a:r>
                        <a:rPr lang="en-IN" dirty="0" smtClean="0">
                          <a:latin typeface="Bookman Old Style" panose="02050604050505020204" pitchFamily="18" charset="0"/>
                        </a:rPr>
                        <a:t> Kumar</a:t>
                      </a:r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Bookman Old Style" panose="02050604050505020204" pitchFamily="18" charset="0"/>
                        </a:rPr>
                        <a:t>7909045025</a:t>
                      </a:r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Bookman Old Style" panose="02050604050505020204" pitchFamily="18" charset="0"/>
                        </a:rPr>
                        <a:t>nilesh.k@smit.smu.edu.in</a:t>
                      </a:r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3300702"/>
                  </a:ext>
                </a:extLst>
              </a:tr>
              <a:tr h="574069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Sourav 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mtClean="0">
                          <a:latin typeface="Bookman Old Style" panose="02050604050505020204" pitchFamily="18" charset="0"/>
                        </a:rPr>
                        <a:t>9748445834</a:t>
                      </a:r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sourav.p@smit.smu.edu.in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28959997"/>
                  </a:ext>
                </a:extLst>
              </a:tr>
              <a:tr h="574069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Chitrapriya 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7679242505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chitrapriya.n@smit.smu.edu.in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4457691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D30FE44-87B9-4168-8470-DAEA20A5E064}"/>
              </a:ext>
            </a:extLst>
          </p:cNvPr>
          <p:cNvSpPr/>
          <p:nvPr/>
        </p:nvSpPr>
        <p:spPr>
          <a:xfrm>
            <a:off x="306512" y="6103245"/>
            <a:ext cx="11066980" cy="606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Bookman Old Style" panose="02050604050505020204" pitchFamily="18" charset="0"/>
              </a:rPr>
              <a:t>All documents and query related mailing address: </a:t>
            </a:r>
            <a:r>
              <a:rPr lang="en-IN" sz="2400" b="1" i="1" dirty="0">
                <a:solidFill>
                  <a:srgbClr val="FF0000"/>
                </a:solidFill>
                <a:highlight>
                  <a:srgbClr val="FFFF00"/>
                </a:highlight>
                <a:latin typeface="Bookman Old Style" panose="02050604050505020204" pitchFamily="18" charset="0"/>
              </a:rPr>
              <a:t>cse.s@smit.smu.edu.in</a:t>
            </a:r>
            <a:r>
              <a:rPr lang="en-IN" sz="24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endParaRPr lang="en-IN" b="1" i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86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09DE1EF591DB4AA02B44ACB8626129" ma:contentTypeVersion="2" ma:contentTypeDescription="Create a new document." ma:contentTypeScope="" ma:versionID="7b51585846d07b41173f06ac2d5e0f1f">
  <xsd:schema xmlns:xsd="http://www.w3.org/2001/XMLSchema" xmlns:xs="http://www.w3.org/2001/XMLSchema" xmlns:p="http://schemas.microsoft.com/office/2006/metadata/properties" xmlns:ns2="99cf00cc-ff1b-45ab-8c56-b70bb58f9afd" targetNamespace="http://schemas.microsoft.com/office/2006/metadata/properties" ma:root="true" ma:fieldsID="01f2c7e25a188eda7a32fd49eb8673a0" ns2:_="">
    <xsd:import namespace="99cf00cc-ff1b-45ab-8c56-b70bb58f9a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cf00cc-ff1b-45ab-8c56-b70bb58f9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048318-1F82-4554-9651-943150203C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cf00cc-ff1b-45ab-8c56-b70bb58f9a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8C70FF-7C4F-48BF-88CB-A22B4A6603DA}">
  <ds:schemaRefs>
    <ds:schemaRef ds:uri="http://purl.org/dc/terms/"/>
    <ds:schemaRef ds:uri="http://schemas.openxmlformats.org/package/2006/metadata/core-properties"/>
    <ds:schemaRef ds:uri="99cf00cc-ff1b-45ab-8c56-b70bb58f9afd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111B42D-9E30-4DF7-B52E-3C11F0110A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704</Words>
  <Application>Microsoft Office PowerPoint</Application>
  <PresentationFormat>Custom</PresentationFormat>
  <Paragraphs>113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    DEPARTMENT OF COMPUTER SCIENCE AND ENGINEERING SIKKIM MANIPAL INSTITUTE OF TECHNOLOGY  INSTRUCTIONS for PURSING B.TECH(CSE) MAJOR PROJECT </vt:lpstr>
      <vt:lpstr>PURSING B.TECH(CSE) MAJOR PROJECT</vt:lpstr>
      <vt:lpstr>Self-Arranged Major Project(External)</vt:lpstr>
      <vt:lpstr>Self-Arranged Major Project(External) contd..</vt:lpstr>
      <vt:lpstr>Major Project arranged through T&amp;P Cell, SMIT </vt:lpstr>
      <vt:lpstr>Major Project in CSE, SMIT (In-house)</vt:lpstr>
      <vt:lpstr>Major Project in CSE, SMIT (In-house) contd..</vt:lpstr>
      <vt:lpstr>PowerPoint Presentation</vt:lpstr>
      <vt:lpstr>PowerPoint Presentation</vt:lpstr>
      <vt:lpstr>PowerPoint Presentation</vt:lpstr>
      <vt:lpstr>PowerPoint Presentation</vt:lpstr>
      <vt:lpstr>For sending Joining Report</vt:lpstr>
      <vt:lpstr>PowerPoint Presentation</vt:lpstr>
      <vt:lpstr>If another students is working with you in the group(need to present together)</vt:lpstr>
      <vt:lpstr>Last step of sending Joining report</vt:lpstr>
      <vt:lpstr>Major Project Progress Evaluation</vt:lpstr>
      <vt:lpstr>TO NOTE:  </vt:lpstr>
      <vt:lpstr>TO NOTE contd:  </vt:lpstr>
      <vt:lpstr>Contact Details: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SIKKIM MANIPAL INSTITUTE OF TECHNOLOGY COMPUTER SCIENCE AND ENGINEERING DEPARTMENT INSTRUCTIONS FOR PURSING B.TECH(CSE) MAJOR PROJECT</dc:title>
  <dc:creator>Chitrapriya Ningthoujam,SMIT</dc:creator>
  <cp:lastModifiedBy>santanu</cp:lastModifiedBy>
  <cp:revision>37</cp:revision>
  <dcterms:created xsi:type="dcterms:W3CDTF">2020-12-31T05:30:47Z</dcterms:created>
  <dcterms:modified xsi:type="dcterms:W3CDTF">2023-10-30T11:14:45Z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0x0101004009DE1EF591DB4AA02B44ACB8626129</vt:lpwstr>
  </property>
</Properties>
</file>